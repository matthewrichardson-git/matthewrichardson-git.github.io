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sldIdLst>
    <p:sldId id="573" r:id="rId2"/>
  </p:sldIdLst>
  <p:sldSz cx="10688638" cy="7562850"/>
  <p:notesSz cx="6805613" cy="99441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5646" autoAdjust="0"/>
  </p:normalViewPr>
  <p:slideViewPr>
    <p:cSldViewPr snapToGrid="0" snapToObjects="1">
      <p:cViewPr varScale="1">
        <p:scale>
          <a:sx n="111" d="100"/>
          <a:sy n="111" d="100"/>
        </p:scale>
        <p:origin x="1712" y="200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5/15/26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Illustrative DCF analysis for Happy Hour Co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95528" y="1044458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Summary financials and cash flow</a:t>
            </a:r>
          </a:p>
        </p:txBody>
      </p:sp>
      <p:sp>
        <p:nvSpPr>
          <p:cNvPr id="12" name="Subtitle 12"/>
          <p:cNvSpPr txBox="1">
            <a:spLocks/>
          </p:cNvSpPr>
          <p:nvPr/>
        </p:nvSpPr>
        <p:spPr>
          <a:xfrm>
            <a:off x="795528" y="5242474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Net present value based on perpetuity growth method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23560" y="5337013"/>
            <a:ext cx="4279392" cy="1523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GB" sz="900" b="1" dirty="0"/>
              <a:t>Sensitising firm value ($m) and implied offer price to WACC and TGR</a:t>
            </a:r>
            <a:endParaRPr lang="en-GB" sz="900" b="1" dirty="0">
              <a:latin typeface="Arial"/>
            </a:endParaRP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823702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700" dirty="0">
                <a:solidFill>
                  <a:schemeClr val="tx2"/>
                </a:solidFill>
              </a:rPr>
              <a:t>Source: </a:t>
            </a:r>
            <a:r>
              <a:rPr lang="en-GB" sz="700" dirty="0">
                <a:solidFill>
                  <a:srgbClr val="6D6E6A"/>
                </a:solidFill>
              </a:rPr>
              <a:t>Company Business Plan (January 2020); </a:t>
            </a:r>
            <a:r>
              <a:rPr lang="en-GB" sz="700" dirty="0">
                <a:solidFill>
                  <a:schemeClr val="tx2"/>
                </a:solidFill>
              </a:rPr>
              <a:t>Equity research; J.P. Morgan 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1899878" y="143032"/>
            <a:ext cx="1544180" cy="216293"/>
            <a:chOff x="814747" y="114751"/>
            <a:chExt cx="1544180" cy="216293"/>
          </a:xfrm>
        </p:grpSpPr>
        <p:sp>
          <p:nvSpPr>
            <p:cNvPr id="18" name="Rectangle 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814747" y="114751"/>
              <a:ext cx="771191" cy="2162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dirty="0"/>
                <a:t>Broker case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1587736" y="114751"/>
              <a:ext cx="771191" cy="216293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b="1" dirty="0">
                  <a:solidFill>
                    <a:schemeClr val="bg1"/>
                  </a:solidFill>
                </a:rPr>
                <a:t>Management case</a:t>
              </a:r>
            </a:p>
          </p:txBody>
        </p:sp>
      </p:grp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F9DBA-FC2F-02DB-3A0D-B36FCC894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863164"/>
              </p:ext>
            </p:extLst>
          </p:nvPr>
        </p:nvGraphicFramePr>
        <p:xfrm>
          <a:off x="5463540" y="5635768"/>
          <a:ext cx="4647606" cy="1105427"/>
        </p:xfrm>
        <a:graphic>
          <a:graphicData uri="http://schemas.openxmlformats.org/drawingml/2006/table">
            <a:tbl>
              <a:tblPr/>
              <a:tblGrid>
                <a:gridCol w="465796">
                  <a:extLst>
                    <a:ext uri="{9D8B030D-6E8A-4147-A177-3AD203B41FA5}">
                      <a16:colId xmlns:a16="http://schemas.microsoft.com/office/drawing/2014/main" val="3234005832"/>
                    </a:ext>
                  </a:extLst>
                </a:gridCol>
                <a:gridCol w="248425">
                  <a:extLst>
                    <a:ext uri="{9D8B030D-6E8A-4147-A177-3AD203B41FA5}">
                      <a16:colId xmlns:a16="http://schemas.microsoft.com/office/drawing/2014/main" val="90394384"/>
                    </a:ext>
                  </a:extLst>
                </a:gridCol>
                <a:gridCol w="786677">
                  <a:extLst>
                    <a:ext uri="{9D8B030D-6E8A-4147-A177-3AD203B41FA5}">
                      <a16:colId xmlns:a16="http://schemas.microsoft.com/office/drawing/2014/main" val="993045388"/>
                    </a:ext>
                  </a:extLst>
                </a:gridCol>
                <a:gridCol w="786677">
                  <a:extLst>
                    <a:ext uri="{9D8B030D-6E8A-4147-A177-3AD203B41FA5}">
                      <a16:colId xmlns:a16="http://schemas.microsoft.com/office/drawing/2014/main" val="1025993757"/>
                    </a:ext>
                  </a:extLst>
                </a:gridCol>
                <a:gridCol w="786677">
                  <a:extLst>
                    <a:ext uri="{9D8B030D-6E8A-4147-A177-3AD203B41FA5}">
                      <a16:colId xmlns:a16="http://schemas.microsoft.com/office/drawing/2014/main" val="234341628"/>
                    </a:ext>
                  </a:extLst>
                </a:gridCol>
                <a:gridCol w="786677">
                  <a:extLst>
                    <a:ext uri="{9D8B030D-6E8A-4147-A177-3AD203B41FA5}">
                      <a16:colId xmlns:a16="http://schemas.microsoft.com/office/drawing/2014/main" val="3683553581"/>
                    </a:ext>
                  </a:extLst>
                </a:gridCol>
                <a:gridCol w="786677">
                  <a:extLst>
                    <a:ext uri="{9D8B030D-6E8A-4147-A177-3AD203B41FA5}">
                      <a16:colId xmlns:a16="http://schemas.microsoft.com/office/drawing/2014/main" val="3718074392"/>
                    </a:ext>
                  </a:extLst>
                </a:gridCol>
              </a:tblGrid>
              <a:tr h="1672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Perpetuity Growth Rate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06509"/>
                  </a:ext>
                </a:extLst>
              </a:tr>
              <a:tr h="133835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WACC (%)</a:t>
                      </a:r>
                    </a:p>
                  </a:txBody>
                  <a:tcPr marL="0" marR="0" marT="0" marB="0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948764"/>
                  </a:ext>
                </a:extLst>
              </a:tr>
              <a:tr h="138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888 / 404c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872 / 396c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872 / 396c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888 / 404c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923 / 421c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76863"/>
                  </a:ext>
                </a:extLst>
              </a:tr>
              <a:tr h="251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 / 437c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936 / 428c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936 / 428c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 / 437c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997 / 459c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959552"/>
                  </a:ext>
                </a:extLst>
              </a:tr>
              <a:tr h="138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 / 437c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936 / 428c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936 / 428c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 / 437c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997 / 459c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881305"/>
                  </a:ext>
                </a:extLst>
              </a:tr>
              <a:tr h="138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888 / 404c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872 / 396c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872 / 396c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888 / 404c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923 / 421c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48987"/>
                  </a:ext>
                </a:extLst>
              </a:tr>
              <a:tr h="138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778 / 348c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767 / 343c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767 / 343c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778 / 348c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803 / 361c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4723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10E845-10C4-D3E3-533C-5B74FE4BF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06285"/>
              </p:ext>
            </p:extLst>
          </p:nvPr>
        </p:nvGraphicFramePr>
        <p:xfrm>
          <a:off x="785686" y="5533162"/>
          <a:ext cx="3996391" cy="1310640"/>
        </p:xfrm>
        <a:graphic>
          <a:graphicData uri="http://schemas.openxmlformats.org/drawingml/2006/table">
            <a:tbl>
              <a:tblPr/>
              <a:tblGrid>
                <a:gridCol w="843813">
                  <a:extLst>
                    <a:ext uri="{9D8B030D-6E8A-4147-A177-3AD203B41FA5}">
                      <a16:colId xmlns:a16="http://schemas.microsoft.com/office/drawing/2014/main" val="1449315200"/>
                    </a:ext>
                  </a:extLst>
                </a:gridCol>
                <a:gridCol w="843813">
                  <a:extLst>
                    <a:ext uri="{9D8B030D-6E8A-4147-A177-3AD203B41FA5}">
                      <a16:colId xmlns:a16="http://schemas.microsoft.com/office/drawing/2014/main" val="2241710508"/>
                    </a:ext>
                  </a:extLst>
                </a:gridCol>
                <a:gridCol w="843813">
                  <a:extLst>
                    <a:ext uri="{9D8B030D-6E8A-4147-A177-3AD203B41FA5}">
                      <a16:colId xmlns:a16="http://schemas.microsoft.com/office/drawing/2014/main" val="3134230053"/>
                    </a:ext>
                  </a:extLst>
                </a:gridCol>
                <a:gridCol w="820373">
                  <a:extLst>
                    <a:ext uri="{9D8B030D-6E8A-4147-A177-3AD203B41FA5}">
                      <a16:colId xmlns:a16="http://schemas.microsoft.com/office/drawing/2014/main" val="3128377627"/>
                    </a:ext>
                  </a:extLst>
                </a:gridCol>
                <a:gridCol w="644579">
                  <a:extLst>
                    <a:ext uri="{9D8B030D-6E8A-4147-A177-3AD203B41FA5}">
                      <a16:colId xmlns:a16="http://schemas.microsoft.com/office/drawing/2014/main" val="3675949796"/>
                    </a:ext>
                  </a:extLst>
                </a:gridCol>
              </a:tblGrid>
              <a:tr h="109702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Value Based on 8.5% WACC &amp; 0.5% TGR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Amount ($m)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of NPV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104780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Present Value of Cashflows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806535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PV of Terminal 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74745"/>
                  </a:ext>
                </a:extLst>
              </a:tr>
              <a:tr h="109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Firm NPV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889522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 debt &amp; adjustments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(85)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31397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equity 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15268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share price ($c)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568853"/>
                  </a:ext>
                </a:extLst>
              </a:tr>
              <a:tr h="10970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premium to current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3400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18236C-3FA3-21A6-AD14-72BD7EAAA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73544"/>
              </p:ext>
            </p:extLst>
          </p:nvPr>
        </p:nvGraphicFramePr>
        <p:xfrm>
          <a:off x="760803" y="1492535"/>
          <a:ext cx="9107425" cy="3628077"/>
        </p:xfrm>
        <a:graphic>
          <a:graphicData uri="http://schemas.openxmlformats.org/drawingml/2006/table">
            <a:tbl>
              <a:tblPr/>
              <a:tblGrid>
                <a:gridCol w="557954">
                  <a:extLst>
                    <a:ext uri="{9D8B030D-6E8A-4147-A177-3AD203B41FA5}">
                      <a16:colId xmlns:a16="http://schemas.microsoft.com/office/drawing/2014/main" val="1632104819"/>
                    </a:ext>
                  </a:extLst>
                </a:gridCol>
                <a:gridCol w="557954">
                  <a:extLst>
                    <a:ext uri="{9D8B030D-6E8A-4147-A177-3AD203B41FA5}">
                      <a16:colId xmlns:a16="http://schemas.microsoft.com/office/drawing/2014/main" val="2960945382"/>
                    </a:ext>
                  </a:extLst>
                </a:gridCol>
                <a:gridCol w="557954">
                  <a:extLst>
                    <a:ext uri="{9D8B030D-6E8A-4147-A177-3AD203B41FA5}">
                      <a16:colId xmlns:a16="http://schemas.microsoft.com/office/drawing/2014/main" val="2039121925"/>
                    </a:ext>
                  </a:extLst>
                </a:gridCol>
                <a:gridCol w="542455">
                  <a:extLst>
                    <a:ext uri="{9D8B030D-6E8A-4147-A177-3AD203B41FA5}">
                      <a16:colId xmlns:a16="http://schemas.microsoft.com/office/drawing/2014/main" val="4243753514"/>
                    </a:ext>
                  </a:extLst>
                </a:gridCol>
                <a:gridCol w="426213">
                  <a:extLst>
                    <a:ext uri="{9D8B030D-6E8A-4147-A177-3AD203B41FA5}">
                      <a16:colId xmlns:a16="http://schemas.microsoft.com/office/drawing/2014/main" val="2679630789"/>
                    </a:ext>
                  </a:extLst>
                </a:gridCol>
                <a:gridCol w="40683">
                  <a:extLst>
                    <a:ext uri="{9D8B030D-6E8A-4147-A177-3AD203B41FA5}">
                      <a16:colId xmlns:a16="http://schemas.microsoft.com/office/drawing/2014/main" val="341592381"/>
                    </a:ext>
                  </a:extLst>
                </a:gridCol>
                <a:gridCol w="751686">
                  <a:extLst>
                    <a:ext uri="{9D8B030D-6E8A-4147-A177-3AD203B41FA5}">
                      <a16:colId xmlns:a16="http://schemas.microsoft.com/office/drawing/2014/main" val="1602946643"/>
                    </a:ext>
                  </a:extLst>
                </a:gridCol>
                <a:gridCol w="348720">
                  <a:extLst>
                    <a:ext uri="{9D8B030D-6E8A-4147-A177-3AD203B41FA5}">
                      <a16:colId xmlns:a16="http://schemas.microsoft.com/office/drawing/2014/main" val="2177738254"/>
                    </a:ext>
                  </a:extLst>
                </a:gridCol>
                <a:gridCol w="185985">
                  <a:extLst>
                    <a:ext uri="{9D8B030D-6E8A-4147-A177-3AD203B41FA5}">
                      <a16:colId xmlns:a16="http://schemas.microsoft.com/office/drawing/2014/main" val="1189785995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149253459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4244832669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582966202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1133234332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1156253244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3101702193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2131421372"/>
                    </a:ext>
                  </a:extLst>
                </a:gridCol>
                <a:gridCol w="588951">
                  <a:extLst>
                    <a:ext uri="{9D8B030D-6E8A-4147-A177-3AD203B41FA5}">
                      <a16:colId xmlns:a16="http://schemas.microsoft.com/office/drawing/2014/main" val="2235438163"/>
                    </a:ext>
                  </a:extLst>
                </a:gridCol>
                <a:gridCol w="426213">
                  <a:extLst>
                    <a:ext uri="{9D8B030D-6E8A-4147-A177-3AD203B41FA5}">
                      <a16:colId xmlns:a16="http://schemas.microsoft.com/office/drawing/2014/main" val="794505170"/>
                    </a:ext>
                  </a:extLst>
                </a:gridCol>
              </a:tblGrid>
              <a:tr h="144612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DCF Forecast 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320661"/>
                  </a:ext>
                </a:extLst>
              </a:tr>
              <a:tr h="15738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 YE ($m)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2020E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2021E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2027E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2028E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2029E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2030E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306238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Revenue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1,149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1,354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1,447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1,443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1,471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1,543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651031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growth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7.8%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6.9%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(0.3%)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2.0%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99811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EBITDA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93148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margin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7.4%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8.9%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572025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growth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(1.6%)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#####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11.3%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2.6%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2.3%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2.1%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1113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D&amp;A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(47)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(54)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(49)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46131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of revenue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850954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of capex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79.3%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#####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103.7%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109.6%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107.2%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104.7%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102.3%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99.9%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97.4%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95.0%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1413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EBIT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0361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margin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4.2%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4.8%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5.6%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5.9%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6.0%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226624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Tax on EBIT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(9)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(13)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(14)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(14)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48216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tax rate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#####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17.0%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477688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Capex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6249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of revenue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4.1%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3.2%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1" u="none" strike="noStrike"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214959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Change in NWC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114038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 Cashflows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80748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of revenue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943658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Exceptional items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(7)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78471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% of revenue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1.4%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0.5%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(1.7%)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1" u="none" strike="noStrike"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</a:rPr>
                        <a:t>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78808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Unlevered free cash flow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7541"/>
                  </a:ext>
                </a:extLst>
              </a:tr>
              <a:tr h="144612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Cashflow Timing (Years to Discount)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397293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Discount Factor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947618"/>
                  </a:ext>
                </a:extLst>
              </a:tr>
              <a:tr h="14461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Discounted DCF cashflows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022924"/>
                  </a:ext>
                </a:extLst>
              </a:tr>
            </a:tbl>
          </a:graphicData>
        </a:graphic>
      </p:graphicFrame>
      <p:sp>
        <p:nvSpPr>
          <p:cNvPr id="19" name="Rectangle 18"/>
          <p:cNvSpPr>
            <a:spLocks/>
          </p:cNvSpPr>
          <p:nvPr/>
        </p:nvSpPr>
        <p:spPr>
          <a:xfrm>
            <a:off x="3180560" y="1312862"/>
            <a:ext cx="2907718" cy="381932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Management estimates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6123008" y="1312861"/>
            <a:ext cx="3779950" cy="3819327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2"/>
                </a:solidFill>
              </a:rPr>
              <a:t>J.P. Morgan outside-in extrapolation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9606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PITCHPROSLIDE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3"/>
  <p:tag name="PRESENTATIONID" val="79c24579-ffe3-47dc-b441-3922fa2442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16015</TotalTime>
  <Words>776</Words>
  <Application>Microsoft Macintosh PowerPoint</Application>
  <PresentationFormat>Custom</PresentationFormat>
  <Paragraphs>384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LF_Kai</vt:lpstr>
      <vt:lpstr>Symbol</vt:lpstr>
      <vt:lpstr>Wingdings</vt:lpstr>
      <vt:lpstr>PP+ UnifiedGIB - A4</vt:lpstr>
      <vt:lpstr>Illustrative DCF analysis for Happy Hour Co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Richardson, Matthew J</cp:lastModifiedBy>
  <cp:revision>866</cp:revision>
  <cp:lastPrinted>2020-01-28T09:55:08Z</cp:lastPrinted>
  <dcterms:created xsi:type="dcterms:W3CDTF">2015-06-19T14:55:37Z</dcterms:created>
  <dcterms:modified xsi:type="dcterms:W3CDTF">2026-05-16T00:10:57Z</dcterms:modified>
</cp:coreProperties>
</file>