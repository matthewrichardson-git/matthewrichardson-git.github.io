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0688638" cy="7562850"/>
  <p:notesSz cx="6858000" cy="9144000"/>
  <p:custDataLst>
    <p:tags r:id="rId5"/>
  </p:custDataLst>
  <p:defaultTextStyle>
    <a:defPPr>
      <a:defRPr lang="fr-FR"/>
    </a:defPPr>
    <a:lvl1pPr marL="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2" userDrawn="1">
          <p15:clr>
            <a:srgbClr val="A4A3A4"/>
          </p15:clr>
        </p15:guide>
        <p15:guide id="2" orient="horz" pos="1192" userDrawn="1">
          <p15:clr>
            <a:srgbClr val="A4A3A4"/>
          </p15:clr>
        </p15:guide>
        <p15:guide id="3" orient="horz" pos="2432" userDrawn="1">
          <p15:clr>
            <a:srgbClr val="A4A3A4"/>
          </p15:clr>
        </p15:guide>
        <p15:guide id="4" orient="horz" pos="2777" userDrawn="1">
          <p15:clr>
            <a:srgbClr val="A4A3A4"/>
          </p15:clr>
        </p15:guide>
        <p15:guide id="5" orient="horz" pos="4015" userDrawn="1">
          <p15:clr>
            <a:srgbClr val="A4A3A4"/>
          </p15:clr>
        </p15:guide>
        <p15:guide id="6" orient="horz" pos="4160" userDrawn="1">
          <p15:clr>
            <a:srgbClr val="A4A3A4"/>
          </p15:clr>
        </p15:guide>
        <p15:guide id="7" pos="501" userDrawn="1">
          <p15:clr>
            <a:srgbClr val="A4A3A4"/>
          </p15:clr>
        </p15:guide>
        <p15:guide id="8" pos="3197" userDrawn="1">
          <p15:clr>
            <a:srgbClr val="A4A3A4"/>
          </p15:clr>
        </p15:guide>
        <p15:guide id="9" pos="3542" userDrawn="1">
          <p15:clr>
            <a:srgbClr val="A4A3A4"/>
          </p15:clr>
        </p15:guide>
        <p15:guide id="10" pos="62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8800"/>
    <a:srgbClr val="FFE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F6702A1-A54F-4802-A9EC-B28C02EDC1F7}" styleName="Roadmap">
    <a:wholeTbl>
      <a:tcTxStyle b="off" i="off"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rgbClr val="E9E7E5"/>
              </a:solidFill>
            </a:ln>
          </a:left>
          <a:right>
            <a:ln w="0" cmpd="sng">
              <a:solidFill>
                <a:srgbClr val="E9E7E5"/>
              </a:solidFill>
            </a:ln>
          </a:right>
          <a:top>
            <a:ln w="0" cmpd="sng">
              <a:solidFill>
                <a:srgbClr val="E9E7E5"/>
              </a:solidFill>
            </a:ln>
          </a:top>
          <a:bottom>
            <a:ln w="0" cmpd="sng">
              <a:solidFill>
                <a:srgbClr val="E9E7E5"/>
              </a:solidFill>
            </a:ln>
          </a:bottom>
          <a:insideH>
            <a:ln>
              <a:noFill/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rgbClr val="E9E7E5"/>
          </a:solidFill>
        </a:fill>
      </a:tcStyle>
    </a:wholeTbl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accent1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>
          <a:insideH>
            <a:ln w="57150" cmpd="sng">
              <a:solidFill>
                <a:srgbClr val="FFFFFF"/>
              </a:solidFill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C679532D-8790-4F43-B145-F427FA289644}" styleName="Timetabl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5" cmpd="sng">
              <a:solidFill>
                <a:srgbClr val="FFFFFF"/>
              </a:solidFill>
            </a:ln>
          </a:insideH>
          <a:insideV>
            <a:ln w="6355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1V>
      <a:tcStyle>
        <a:tcBdr/>
        <a:fill>
          <a:noFill/>
        </a:fill>
      </a:tcStyle>
    </a:band1V>
    <a:band2V>
      <a:tcStyle>
        <a:tcBdr/>
        <a:fill>
          <a:solidFill>
            <a:srgbClr val="D9D5CD"/>
          </a:solidFill>
        </a:fill>
      </a:tcStyle>
    </a:band2V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Row>
  </a:tblStyle>
  <a:tblStyle styleId="{640930CC-2DD5-4645-9BF9-1F0F6B9BBA25}" styleName="Standard">
    <a:wholeTbl>
      <a:tcTxStyle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0582B0D9-9874-4C26-850A-993D2AA39D9F}" styleName="Blank">
    <a:wholeTbl>
      <a:tcTxStyle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F3359BF5-DAE9-4BDB-B8C4-06CAF9B8A900}" styleName="Agenda">
    <a:wholeTbl>
      <a:tcTxStyle b="off" i="off">
        <a:fontRef idx="minor">
          <a:prstClr val="black"/>
        </a:fontRef>
        <a:schemeClr val="bg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AFB1B3"/>
              </a:solidFill>
              <a:prstDash val="solid"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bg2"/>
      </a:tcTxStyle>
      <a:tcStyle>
        <a:tcBdr>
          <a:bottom>
            <a:ln w="6350" cmpd="sng">
              <a:solidFill>
                <a:srgbClr val="AFB1B3"/>
              </a:solidFill>
              <a:prstDash val="solid"/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bg2"/>
      </a:tcTxStyle>
      <a:tcStyle>
        <a:tcBdr>
          <a:top>
            <a:ln w="6350" cmpd="sng">
              <a:solidFill>
                <a:srgbClr val="AFB1B3"/>
              </a:solidFill>
              <a:prstDash val="solid"/>
            </a:ln>
          </a:top>
        </a:tcBdr>
        <a:fill>
          <a:noFill/>
        </a:fill>
      </a:tcStyle>
    </a:firstRow>
  </a:tblStyle>
  <a:tblStyle styleId="{0CAB58E7-5CDE-43C6-A48B-3C2A836B0257}" styleName="League">
    <a:wholeTbl>
      <a:tcTxStyle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 b="on"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99" autoAdjust="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208" y="208"/>
      </p:cViewPr>
      <p:guideLst>
        <p:guide orient="horz" pos="1002"/>
        <p:guide orient="horz" pos="1192"/>
        <p:guide orient="horz" pos="2432"/>
        <p:guide orient="horz" pos="2777"/>
        <p:guide orient="horz" pos="4015"/>
        <p:guide orient="horz" pos="4160"/>
        <p:guide pos="501"/>
        <p:guide pos="3197"/>
        <p:guide pos="3542"/>
        <p:guide pos="62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0EA6C-98F2-4948-889C-B0F8BC62A4F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A6D59-3967-6043-8573-60F2689DB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62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1709928"/>
            <a:ext cx="9107424" cy="1554480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ct val="110000"/>
              </a:lnSpc>
              <a:spcBef>
                <a:spcPct val="9500"/>
              </a:spcBef>
              <a:buFontTx/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349300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6" name="PresentationContact"/>
          <p:cNvSpPr>
            <a:spLocks noGrp="1"/>
          </p:cNvSpPr>
          <p:nvPr>
            <p:ph type="body" sz="quarter" idx="12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8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STRICTLY PRIVATE AND CONFIDENTIAL</a:t>
            </a:r>
          </a:p>
        </p:txBody>
      </p:sp>
      <p:sp>
        <p:nvSpPr>
          <p:cNvPr id="9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AU" sz="800" b="0" i="0" cap="all" spc="21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4096512" y="349300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3175" indent="0" algn="l">
              <a:spcBef>
                <a:spcPts val="10"/>
              </a:spcBef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49436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3767328"/>
            <a:ext cx="9107424" cy="137160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523036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resentationContact"/>
          <p:cNvSpPr>
            <a:spLocks noGrp="1"/>
          </p:cNvSpPr>
          <p:nvPr>
            <p:ph type="body" sz="quarter" idx="12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sp>
        <p:nvSpPr>
          <p:cNvPr id="8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8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STRICTLY PRIVATE AND CONFIDENTIAL</a:t>
            </a:r>
          </a:p>
        </p:txBody>
      </p:sp>
      <p:sp>
        <p:nvSpPr>
          <p:cNvPr id="9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AU" sz="800" b="0" i="0" cap="all" spc="21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4096512" y="523036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  <p:sp>
        <p:nvSpPr>
          <p:cNvPr id="11" name="CoverGraphic"/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795528" y="1389888"/>
            <a:ext cx="9107424" cy="2377440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/>
              <a:t>[COVER GRAPHIC]</a:t>
            </a:r>
          </a:p>
        </p:txBody>
      </p:sp>
    </p:spTree>
    <p:extLst>
      <p:ext uri="{BB962C8B-B14F-4D97-AF65-F5344CB8AC3E}">
        <p14:creationId xmlns:p14="http://schemas.microsoft.com/office/powerpoint/2010/main" val="64292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/>
          </p:cNvSpPr>
          <p:nvPr>
            <p:ph type="pic" idx="10"/>
          </p:nvPr>
        </p:nvSpPr>
        <p:spPr>
          <a:xfrm>
            <a:off x="0" y="0"/>
            <a:ext cx="10689336" cy="7562089"/>
          </a:xfr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715768"/>
            <a:ext cx="9034272" cy="112471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760720"/>
            <a:ext cx="10698480" cy="1060704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320040" y="3310128"/>
            <a:ext cx="8668511" cy="393192"/>
          </a:xfrm>
          <a:prstGeom prst="rect">
            <a:avLst/>
          </a:prstGeom>
        </p:spPr>
        <p:txBody>
          <a:bodyPr vert="horz" wrap="none" lIns="0" tIns="0" rIns="0" bIns="0" anchor="ctr">
            <a:noAutofit/>
          </a:bodyPr>
          <a:lstStyle>
            <a:lvl1pPr marL="3175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   [Date]</a:t>
            </a:r>
          </a:p>
        </p:txBody>
      </p:sp>
      <p:sp>
        <p:nvSpPr>
          <p:cNvPr id="7" name="PlaceholderTitle"/>
          <p:cNvSpPr>
            <a:spLocks noGrp="1"/>
          </p:cNvSpPr>
          <p:nvPr>
            <p:ph type="title" idx="14" hasCustomPrompt="1"/>
          </p:nvPr>
        </p:nvSpPr>
        <p:spPr>
          <a:xfrm>
            <a:off x="320040" y="2926080"/>
            <a:ext cx="8668511" cy="399593"/>
          </a:xfrm>
        </p:spPr>
        <p:txBody>
          <a:bodyPr vert="horz" wrap="square" lIns="0" tIns="0" rIns="0" bIns="0" anchor="ctr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000" b="0" i="0" cap="all" spc="3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</p:spTree>
    <p:extLst>
      <p:ext uri="{BB962C8B-B14F-4D97-AF65-F5344CB8AC3E}">
        <p14:creationId xmlns:p14="http://schemas.microsoft.com/office/powerpoint/2010/main" val="25654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/>
          </p:cNvSpPr>
          <p:nvPr>
            <p:ph type="pic" idx="10" hasCustomPrompt="1"/>
          </p:nvPr>
        </p:nvSpPr>
        <p:spPr>
          <a:xfrm>
            <a:off x="181966" y="173736"/>
            <a:ext cx="10287000" cy="7150608"/>
          </a:xfr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on Insert Picture to add image</a:t>
            </a:r>
          </a:p>
        </p:txBody>
      </p:sp>
      <p:sp>
        <p:nvSpPr>
          <p:cNvPr id="4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181966" y="2713939"/>
            <a:ext cx="9034272" cy="112471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Rectangle 3"/>
          <p:cNvSpPr>
            <a:spLocks noGrp="1"/>
          </p:cNvSpPr>
          <p:nvPr>
            <p:ph type="body" sz="quarter" idx="12" hasCustomPrompt="1"/>
          </p:nvPr>
        </p:nvSpPr>
        <p:spPr>
          <a:xfrm>
            <a:off x="182880" y="5760720"/>
            <a:ext cx="10287000" cy="1060704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548640" y="3310128"/>
            <a:ext cx="8668511" cy="365760"/>
          </a:xfrm>
          <a:prstGeom prst="rect">
            <a:avLst/>
          </a:prstGeom>
        </p:spPr>
        <p:txBody>
          <a:bodyPr vert="horz" wrap="none" lIns="0" tIns="0" rIns="0" bIns="0" anchor="ctr">
            <a:noAutofit/>
          </a:bodyPr>
          <a:lstStyle>
            <a:lvl1pPr marL="3175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   [Date]</a:t>
            </a:r>
          </a:p>
        </p:txBody>
      </p:sp>
      <p:sp>
        <p:nvSpPr>
          <p:cNvPr id="7" name="PlaceholderTitle"/>
          <p:cNvSpPr>
            <a:spLocks noGrp="1"/>
          </p:cNvSpPr>
          <p:nvPr>
            <p:ph type="title" idx="14" hasCustomPrompt="1"/>
          </p:nvPr>
        </p:nvSpPr>
        <p:spPr>
          <a:xfrm>
            <a:off x="548640" y="2916936"/>
            <a:ext cx="8668511" cy="399593"/>
          </a:xfrm>
        </p:spPr>
        <p:txBody>
          <a:bodyPr vert="horz" wrap="square" lIns="0" tIns="0" rIns="0" bIns="0" anchor="ctr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000" b="0" i="0" cap="all" spc="3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</p:spTree>
    <p:extLst>
      <p:ext uri="{BB962C8B-B14F-4D97-AF65-F5344CB8AC3E}">
        <p14:creationId xmlns:p14="http://schemas.microsoft.com/office/powerpoint/2010/main" val="401870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/>
          </p:cNvSpPr>
          <p:nvPr>
            <p:ph type="pic" idx="10"/>
          </p:nvPr>
        </p:nvSpPr>
        <p:spPr>
          <a:xfrm>
            <a:off x="350215" y="885139"/>
            <a:ext cx="3145536" cy="4718304"/>
          </a:xfr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reeform 12"/>
          <p:cNvSpPr>
            <a:spLocks noGrp="1"/>
          </p:cNvSpPr>
          <p:nvPr>
            <p:ph type="pic" sz="quarter" idx="11"/>
          </p:nvPr>
        </p:nvSpPr>
        <p:spPr>
          <a:xfrm>
            <a:off x="3767328" y="885139"/>
            <a:ext cx="3145536" cy="4718304"/>
          </a:xfrm>
          <a:prstGeom prst="rect">
            <a:avLst/>
          </a:prstGeo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reeform 14"/>
          <p:cNvSpPr>
            <a:spLocks noGrp="1"/>
          </p:cNvSpPr>
          <p:nvPr>
            <p:ph type="pic" sz="quarter" idx="12"/>
          </p:nvPr>
        </p:nvSpPr>
        <p:spPr>
          <a:xfrm>
            <a:off x="7187184" y="885139"/>
            <a:ext cx="3145536" cy="4718304"/>
          </a:xfrm>
          <a:prstGeom prst="rect">
            <a:avLst/>
          </a:prstGeo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9230868" y="547726"/>
            <a:ext cx="1106424" cy="256032"/>
          </a:xfrm>
          <a:prstGeom prst="rect">
            <a:avLst/>
          </a:prstGeom>
        </p:spPr>
        <p:txBody>
          <a:bodyPr vert="horz" wrap="none" lIns="0" tIns="0" rIns="0" bIns="0" anchor="ctr">
            <a:noAutofit/>
          </a:bodyPr>
          <a:lstStyle>
            <a:lvl1pPr marL="3175" indent="0" algn="r">
              <a:lnSpc>
                <a:spcPct val="110000"/>
              </a:lnSpc>
              <a:spcBef>
                <a:spcPts val="0"/>
              </a:spcBef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   [Date]</a:t>
            </a:r>
          </a:p>
        </p:txBody>
      </p:sp>
      <p:sp>
        <p:nvSpPr>
          <p:cNvPr id="7" name="PlaceholderTitle"/>
          <p:cNvSpPr>
            <a:spLocks noGrp="1"/>
          </p:cNvSpPr>
          <p:nvPr>
            <p:ph type="title" idx="14" hasCustomPrompt="1"/>
          </p:nvPr>
        </p:nvSpPr>
        <p:spPr>
          <a:xfrm>
            <a:off x="350215" y="5760720"/>
            <a:ext cx="9989820" cy="338328"/>
          </a:xfrm>
        </p:spPr>
        <p:txBody>
          <a:bodyPr vert="horz" wrap="square" lIns="0" tIns="0" rIns="0" bIns="0" anchor="ctr">
            <a:noAutofit/>
          </a:bodyPr>
          <a:lstStyle>
            <a:lvl1pPr algn="ctr">
              <a:lnSpc>
                <a:spcPct val="110000"/>
              </a:lnSpc>
              <a:spcBef>
                <a:spcPct val="0"/>
              </a:spcBef>
              <a:buFontTx/>
              <a:buNone/>
              <a:defRPr sz="1600" b="0" i="0" cap="all" spc="8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</p:spTree>
    <p:extLst>
      <p:ext uri="{BB962C8B-B14F-4D97-AF65-F5344CB8AC3E}">
        <p14:creationId xmlns:p14="http://schemas.microsoft.com/office/powerpoint/2010/main" val="3618342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57093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4791456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5270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46361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Left Tw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91931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Left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26782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Subtitle"/>
          <p:cNvSpPr>
            <a:spLocks noGrp="1"/>
          </p:cNvSpPr>
          <p:nvPr>
            <p:ph type="subTitle" sz="quarter" idx="14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612411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09427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227956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239156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60133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1412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2441448"/>
            <a:ext cx="9107424" cy="155448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Section Divider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4133088"/>
            <a:ext cx="9107424" cy="41148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add Section Divider 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fidentialInternal"/>
          <p:cNvSpPr txBox="1"/>
          <p:nvPr userDrawn="1"/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8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STRICTLY PRIVATE AND CONFIDENTIAL</a:t>
            </a:r>
          </a:p>
        </p:txBody>
      </p:sp>
      <p:sp>
        <p:nvSpPr>
          <p:cNvPr id="8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AU" sz="800" b="0" i="0" cap="all" spc="21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PageNumber"/>
          <p:cNvSpPr txBox="1"/>
          <p:nvPr userDrawn="1"/>
        </p:nvSpPr>
        <p:spPr>
          <a:xfrm>
            <a:off x="5234940" y="6918985"/>
            <a:ext cx="228600" cy="1523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AU" sz="900" b="0" i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spect="1"/>
          </p:cNvSpPr>
          <p:nvPr userDrawn="1">
            <p:custDataLst>
              <p:tags r:id="rId1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AU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696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Label"/>
          <p:cNvSpPr txBox="1"/>
          <p:nvPr userDrawn="1">
            <p:custDataLst>
              <p:tags r:id="rId1"/>
            </p:custDataLst>
          </p:nvPr>
        </p:nvSpPr>
        <p:spPr>
          <a:xfrm>
            <a:off x="795528" y="246888"/>
            <a:ext cx="9107424" cy="6858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AU" sz="1800" b="0" i="0" dirty="0">
                <a:solidFill>
                  <a:schemeClr val="tx2"/>
                </a:solidFill>
                <a:latin typeface="Arial" panose="020B0604020202020204" pitchFamily="34" charset="0"/>
              </a:rPr>
              <a:t>Agenda</a:t>
            </a:r>
          </a:p>
        </p:txBody>
      </p:sp>
      <p:sp>
        <p:nvSpPr>
          <p:cNvPr id="4" name="AgendaPage"/>
          <p:cNvSpPr txBox="1"/>
          <p:nvPr userDrawn="1">
            <p:custDataLst>
              <p:tags r:id="rId2"/>
            </p:custDataLst>
          </p:nvPr>
        </p:nvSpPr>
        <p:spPr>
          <a:xfrm>
            <a:off x="9513422" y="1463040"/>
            <a:ext cx="389530" cy="295337"/>
          </a:xfrm>
          <a:prstGeom prst="rect">
            <a:avLst/>
          </a:prstGeom>
          <a:noFill/>
        </p:spPr>
        <p:txBody>
          <a:bodyPr vert="horz" wrap="non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AU" sz="1300" b="0" i="0" dirty="0">
                <a:solidFill>
                  <a:schemeClr val="tx2"/>
                </a:solidFill>
                <a:latin typeface="Arial" panose="020B0604020202020204" pitchFamily="34" charset="0"/>
              </a:rPr>
              <a:t>Page</a:t>
            </a:r>
          </a:p>
        </p:txBody>
      </p:sp>
      <p:sp>
        <p:nvSpPr>
          <p:cNvPr id="5" name="AgendaTable"/>
          <p:cNvSpPr>
            <a:spLocks noGrp="1"/>
          </p:cNvSpPr>
          <p:nvPr>
            <p:ph type="tbl" idx="10"/>
          </p:nvPr>
        </p:nvSpPr>
        <p:spPr>
          <a:xfrm>
            <a:off x="777240" y="1828800"/>
            <a:ext cx="9107424" cy="5029200"/>
          </a:xfrm>
        </p:spPr>
        <p:txBody>
          <a:bodyPr/>
          <a:lstStyle>
            <a:lvl1pPr marL="3175" indent="0">
              <a:buFontTx/>
              <a:buNone/>
              <a:defRPr sz="13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276677254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5029200"/>
          </a:xfrm>
        </p:spPr>
        <p:txBody>
          <a:bodyPr vert="horz" wrap="square" lIns="91440" tIns="36576" rIns="36576" bIns="36576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0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210312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4206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6492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712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1799708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9107424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</p:spTree>
    <p:extLst>
      <p:ext uri="{BB962C8B-B14F-4D97-AF65-F5344CB8AC3E}">
        <p14:creationId xmlns:p14="http://schemas.microsoft.com/office/powerpoint/2010/main" val="29833518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4279392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1709928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5623560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5623560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70971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95528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3922776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7050024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880407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139696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118104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440680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763256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795528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3118104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7"/>
          <p:cNvSpPr>
            <a:spLocks noGrp="1"/>
          </p:cNvSpPr>
          <p:nvPr>
            <p:ph sz="quarter" idx="16"/>
          </p:nvPr>
        </p:nvSpPr>
        <p:spPr>
          <a:xfrm>
            <a:off x="5440680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8"/>
          <p:cNvSpPr>
            <a:spLocks noGrp="1"/>
          </p:cNvSpPr>
          <p:nvPr>
            <p:ph sz="quarter" idx="17"/>
          </p:nvPr>
        </p:nvSpPr>
        <p:spPr>
          <a:xfrm>
            <a:off x="7763256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ageSubtitle"/>
          <p:cNvSpPr>
            <a:spLocks noGrp="1"/>
          </p:cNvSpPr>
          <p:nvPr>
            <p:ph type="subTitle" sz="quarter" idx="18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7971561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94560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429000" y="1892808"/>
            <a:ext cx="647395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209544" y="1892808"/>
            <a:ext cx="0" cy="4480560"/>
          </a:xfrm>
          <a:prstGeom prst="line">
            <a:avLst/>
          </a:prstGeom>
          <a:ln w="9525">
            <a:solidFill>
              <a:srgbClr val="AFB1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21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tm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Title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laceholderBody"/>
          <p:cNvSpPr>
            <a:spLocks noGrp="1"/>
          </p:cNvSpPr>
          <p:nvPr>
            <p:ph type="body" idx="1"/>
          </p:nvPr>
        </p:nvSpPr>
        <p:spPr>
          <a:xfrm>
            <a:off x="795528" y="1527048"/>
            <a:ext cx="9107424" cy="5029200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/>
          <a:p>
            <a:pPr marL="12192" lvl="0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/>
              <a:t>Body Text</a:t>
            </a:r>
          </a:p>
          <a:p>
            <a:pPr marL="742950" lvl="1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one</a:t>
            </a:r>
          </a:p>
          <a:p>
            <a:pPr marL="1143000" lvl="2" indent="-2286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two</a:t>
            </a:r>
          </a:p>
          <a:p>
            <a:pPr marL="1600200" lvl="3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three</a:t>
            </a:r>
          </a:p>
          <a:p>
            <a:pPr marL="2057400" lvl="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four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102412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fidentialInternal"/>
          <p:cNvSpPr txBox="1"/>
          <p:nvPr userDrawn="1">
            <p:custDataLst>
              <p:tags r:id="rId27"/>
            </p:custDataLst>
          </p:nvPr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7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6" name="Confidential" hidden="1"/>
          <p:cNvSpPr txBox="1"/>
          <p:nvPr userDrawn="1">
            <p:custDataLst>
              <p:tags r:id="rId28"/>
            </p:custDataLst>
          </p:nvPr>
        </p:nvSpPr>
        <p:spPr>
          <a:xfrm>
            <a:off x="475488" y="7059168"/>
            <a:ext cx="7178040" cy="201658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AU" sz="7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7" name="SubsectionTracker"/>
          <p:cNvSpPr txBox="1"/>
          <p:nvPr userDrawn="1"/>
        </p:nvSpPr>
        <p:spPr>
          <a:xfrm>
            <a:off x="795528" y="216093"/>
            <a:ext cx="65" cy="14388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AU" sz="850" b="0" i="0" dirty="0">
              <a:solidFill>
                <a:schemeClr val="bg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PageNumber"/>
          <p:cNvSpPr txBox="1"/>
          <p:nvPr userDrawn="1"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AU" sz="900" b="0" i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ClientName"/>
          <p:cNvSpPr txBox="1"/>
          <p:nvPr userDrawn="1">
            <p:custDataLst>
              <p:tags r:id="rId29"/>
            </p:custDataLst>
          </p:nvPr>
        </p:nvSpPr>
        <p:spPr>
          <a:xfrm>
            <a:off x="795528" y="6967728"/>
            <a:ext cx="1828800" cy="11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endParaRPr lang="en-AU" sz="900" b="0" i="0" cap="all" spc="15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spect="1"/>
          </p:cNvSpPr>
          <p:nvPr userDrawn="1">
            <p:custDataLst>
              <p:tags r:id="rId30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AU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1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spcBef>
          <a:spcPct val="0"/>
        </a:spcBef>
        <a:buFontTx/>
        <a:buNone/>
        <a:defRPr sz="1800" b="0" i="0" kern="120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2192" indent="-9017" algn="l" defTabSz="914400" rtl="0" eaLnBrk="1" latinLnBrk="0" hangingPunct="1">
        <a:lnSpc>
          <a:spcPct val="110000"/>
        </a:lnSpc>
        <a:spcBef>
          <a:spcPts val="910"/>
        </a:spcBef>
        <a:spcAft>
          <a:spcPct val="0"/>
        </a:spcAft>
        <a:buFontTx/>
        <a:buNone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210312" indent="-210312" algn="l" defTabSz="914400" rtl="0" eaLnBrk="1" latinLnBrk="0" hangingPunct="1">
        <a:lnSpc>
          <a:spcPct val="110000"/>
        </a:lnSpc>
        <a:spcBef>
          <a:spcPts val="600"/>
        </a:spcBef>
        <a:spcAft>
          <a:spcPct val="0"/>
        </a:spcAft>
        <a:buClr>
          <a:schemeClr val="bg2"/>
        </a:buClr>
        <a:buSzPct val="92000"/>
        <a:buFont typeface="Wingdings" panose="05000000000000000000" pitchFamily="2" charset="2"/>
        <a:buChar char="n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420624" indent="-210312" algn="l" defTabSz="914400" rtl="0" eaLnBrk="1" latinLnBrk="0" hangingPunct="1">
        <a:lnSpc>
          <a:spcPct val="110000"/>
        </a:lnSpc>
        <a:spcBef>
          <a:spcPts val="300"/>
        </a:spcBef>
        <a:spcAft>
          <a:spcPct val="0"/>
        </a:spcAft>
        <a:buClr>
          <a:schemeClr val="tx2"/>
        </a:buClr>
        <a:buSzPct val="92000"/>
        <a:buFont typeface="Wingdings" panose="05000000000000000000" pitchFamily="2" charset="2"/>
        <a:buChar char="n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649224" indent="-228600" algn="l" defTabSz="914400" rtl="0" eaLnBrk="1" latinLnBrk="0" hangingPunct="1">
        <a:lnSpc>
          <a:spcPct val="110000"/>
        </a:lnSpc>
        <a:spcBef>
          <a:spcPts val="10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–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877824" indent="-228600" algn="l" defTabSz="914400" rtl="0" eaLnBrk="1" latinLnBrk="0" hangingPunct="1">
        <a:lnSpc>
          <a:spcPct val="11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–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2192" indent="-9017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FontTx/>
        <a:buNone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1pPr>
      <a:lvl2pPr marL="210312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2pPr>
      <a:lvl3pPr marL="420624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3pPr>
      <a:lvl4pPr marL="6492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4pPr>
      <a:lvl5pPr marL="8778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</p:spPr>
        <p:txBody>
          <a:bodyPr/>
          <a:lstStyle/>
          <a:p>
            <a:r>
              <a:rPr lang="en-AU" dirty="0" err="1"/>
              <a:t>HappyHour</a:t>
            </a:r>
            <a:r>
              <a:rPr lang="en-AU" dirty="0"/>
              <a:t> Co. Company Profile</a:t>
            </a:r>
          </a:p>
        </p:txBody>
      </p:sp>
      <p:sp>
        <p:nvSpPr>
          <p:cNvPr id="12" name="TextBox 11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95528" y="1892808"/>
            <a:ext cx="4279392" cy="1965960"/>
          </a:xfrm>
          <a:prstGeom prst="rect">
            <a:avLst/>
          </a:prstGeom>
          <a:noFill/>
        </p:spPr>
        <p:txBody>
          <a:bodyPr vert="horz" wrap="square" lIns="91440" tIns="36576" rIns="36576" bIns="36576" rtlCol="0" anchor="t">
            <a:noAutofit/>
          </a:bodyPr>
          <a:lstStyle/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r>
              <a:rPr lang="en-AU" sz="900" dirty="0">
                <a:solidFill>
                  <a:schemeClr val="tx2"/>
                </a:solidFill>
                <a:latin typeface="Arial" panose="020B0604020202020204" pitchFamily="34" charset="0"/>
              </a:rPr>
              <a:t>Producer and marketer of beer, spirits and non-alcoholic beverages</a:t>
            </a:r>
          </a:p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r>
              <a:rPr lang="en-AU" sz="900" dirty="0">
                <a:solidFill>
                  <a:schemeClr val="tx2"/>
                </a:solidFill>
                <a:latin typeface="Arial" panose="020B0604020202020204" pitchFamily="34" charset="0"/>
              </a:rPr>
              <a:t>Headquarter in Singapore with operations in Malaysia and China; manufacturing outsourced to Brew Co. in Malaysia</a:t>
            </a:r>
          </a:p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r>
              <a:rPr lang="en-AU" sz="900" dirty="0">
                <a:solidFill>
                  <a:schemeClr val="tx2"/>
                </a:solidFill>
                <a:latin typeface="Arial" panose="020B0604020202020204" pitchFamily="34" charset="0"/>
              </a:rPr>
              <a:t>Distribution and direct sales across all markets</a:t>
            </a:r>
          </a:p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r>
              <a:rPr lang="en-AU" sz="900" dirty="0">
                <a:solidFill>
                  <a:schemeClr val="tx2"/>
                </a:solidFill>
                <a:latin typeface="Arial" panose="020B0604020202020204" pitchFamily="34" charset="0"/>
              </a:rPr>
              <a:t>#1 player in beer and spirits in Singapore and Malaysia; #1 in non-alcoholic beverages in Malaysia</a:t>
            </a:r>
          </a:p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r>
              <a:rPr lang="en-AU" sz="900" dirty="0">
                <a:solidFill>
                  <a:schemeClr val="tx2"/>
                </a:solidFill>
                <a:latin typeface="Arial" panose="020B0604020202020204" pitchFamily="34" charset="0"/>
              </a:rPr>
              <a:t>High end product offerings in spirits segment (vodka, tequila) commanding premium valuation </a:t>
            </a:r>
          </a:p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r>
              <a:rPr lang="en-AU" sz="900" dirty="0">
                <a:solidFill>
                  <a:schemeClr val="tx2"/>
                </a:solidFill>
                <a:latin typeface="Arial" panose="020B0604020202020204" pitchFamily="34" charset="0"/>
              </a:rPr>
              <a:t>Growth strategy: recently expanded into China; new bottling facilities planned for Cambodia</a:t>
            </a:r>
          </a:p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r>
              <a:rPr lang="en-AU" sz="900" dirty="0">
                <a:solidFill>
                  <a:schemeClr val="tx2"/>
                </a:solidFill>
                <a:latin typeface="Arial" panose="020B0604020202020204" pitchFamily="34" charset="0"/>
              </a:rPr>
              <a:t>Founded in 1975 by Ms. Happy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645920"/>
            <a:ext cx="4279392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160520"/>
            <a:ext cx="4279392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Shareholders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623560" y="4160520"/>
            <a:ext cx="4279391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Indicative valuation</a:t>
            </a:r>
          </a:p>
        </p:txBody>
      </p:sp>
      <p:sp>
        <p:nvSpPr>
          <p:cNvPr id="19" name="TextBox 18"/>
          <p:cNvSpPr txBox="1"/>
          <p:nvPr>
            <p:custDataLst>
              <p:tags r:id="rId3"/>
            </p:custDataLst>
          </p:nvPr>
        </p:nvSpPr>
        <p:spPr>
          <a:xfrm>
            <a:off x="795528" y="6605078"/>
            <a:ext cx="9107423" cy="124906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AU" sz="800" dirty="0">
                <a:solidFill>
                  <a:schemeClr val="tx2"/>
                </a:solidFill>
                <a:latin typeface="Arial" panose="020B0604020202020204" pitchFamily="34" charset="0"/>
              </a:rPr>
              <a:t>Source: Company website; Broker industry reports; News articles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1645920"/>
            <a:ext cx="4279391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Key financials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9457671" y="487407"/>
            <a:ext cx="445281" cy="445281"/>
            <a:chOff x="7791881" y="273464"/>
            <a:chExt cx="864014" cy="864014"/>
          </a:xfrm>
        </p:grpSpPr>
        <p:grpSp>
          <p:nvGrpSpPr>
            <p:cNvPr id="44" name="Group 43"/>
            <p:cNvGrpSpPr/>
            <p:nvPr/>
          </p:nvGrpSpPr>
          <p:grpSpPr>
            <a:xfrm>
              <a:off x="8091488" y="323288"/>
              <a:ext cx="261937" cy="196405"/>
              <a:chOff x="8091488" y="323288"/>
              <a:chExt cx="261937" cy="196405"/>
            </a:xfrm>
          </p:grpSpPr>
          <p:sp>
            <p:nvSpPr>
              <p:cNvPr id="42" name="Isosceles Triangle 41"/>
              <p:cNvSpPr/>
              <p:nvPr/>
            </p:nvSpPr>
            <p:spPr>
              <a:xfrm>
                <a:off x="8156445" y="323288"/>
                <a:ext cx="134885" cy="146581"/>
              </a:xfrm>
              <a:prstGeom prst="triangle">
                <a:avLst/>
              </a:prstGeom>
              <a:gradFill flip="none" rotWithShape="1">
                <a:gsLst>
                  <a:gs pos="0">
                    <a:srgbClr val="FFE36D"/>
                  </a:gs>
                  <a:gs pos="74000">
                    <a:srgbClr val="A88800"/>
                  </a:gs>
                  <a:gs pos="83000">
                    <a:srgbClr val="A88800"/>
                  </a:gs>
                  <a:gs pos="100000">
                    <a:srgbClr val="B99D30"/>
                  </a:gs>
                </a:gsLst>
                <a:lin ang="16200000" scaled="1"/>
                <a:tileRect/>
              </a:gra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3" name="Isosceles Triangle 42"/>
              <p:cNvSpPr/>
              <p:nvPr/>
            </p:nvSpPr>
            <p:spPr>
              <a:xfrm>
                <a:off x="8091488" y="427466"/>
                <a:ext cx="261937" cy="92227"/>
              </a:xfrm>
              <a:prstGeom prst="triangle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 flipH="1">
              <a:off x="7882779" y="549854"/>
              <a:ext cx="705835" cy="391801"/>
              <a:chOff x="8814495" y="616264"/>
              <a:chExt cx="705835" cy="391801"/>
            </a:xfrm>
            <a:gradFill>
              <a:gsLst>
                <a:gs pos="0">
                  <a:srgbClr val="A88800"/>
                </a:gs>
                <a:gs pos="50000">
                  <a:srgbClr val="FFCF01"/>
                </a:gs>
                <a:gs pos="100000">
                  <a:srgbClr val="FFE36D"/>
                </a:gs>
              </a:gsLst>
              <a:path path="circle">
                <a:fillToRect l="50000" t="50000" r="50000" b="50000"/>
              </a:path>
            </a:gradFill>
          </p:grpSpPr>
          <p:sp>
            <p:nvSpPr>
              <p:cNvPr id="23" name="Rectangle 22"/>
              <p:cNvSpPr/>
              <p:nvPr/>
            </p:nvSpPr>
            <p:spPr>
              <a:xfrm>
                <a:off x="8814495" y="726717"/>
                <a:ext cx="378000" cy="8284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 rot="5400000">
                <a:off x="8787211" y="726717"/>
                <a:ext cx="303745" cy="82839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 rot="5400000">
                <a:off x="8947996" y="726717"/>
                <a:ext cx="303745" cy="82839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 rot="12600000">
                <a:off x="9142330" y="704320"/>
                <a:ext cx="378000" cy="303745"/>
                <a:chOff x="9192495" y="616264"/>
                <a:chExt cx="378000" cy="303745"/>
              </a:xfrm>
              <a:grpFill/>
            </p:grpSpPr>
            <p:sp>
              <p:nvSpPr>
                <p:cNvPr id="25" name="Rectangle 24"/>
                <p:cNvSpPr/>
                <p:nvPr/>
              </p:nvSpPr>
              <p:spPr>
                <a:xfrm rot="5400000">
                  <a:off x="9294035" y="726717"/>
                  <a:ext cx="303745" cy="82839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endParaRPr lang="en-AU" sz="12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 rot="5400000">
                  <a:off x="9133250" y="726717"/>
                  <a:ext cx="303745" cy="82839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endParaRPr lang="en-AU" sz="12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9192495" y="726717"/>
                  <a:ext cx="378000" cy="8284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endParaRPr lang="en-AU" sz="1200" dirty="0">
                    <a:solidFill>
                      <a:schemeClr val="tx2"/>
                    </a:solidFill>
                  </a:endParaRPr>
                </a:p>
              </p:txBody>
            </p:sp>
          </p:grpSp>
        </p:grpSp>
        <p:sp>
          <p:nvSpPr>
            <p:cNvPr id="41" name="Oval 40"/>
            <p:cNvSpPr/>
            <p:nvPr/>
          </p:nvSpPr>
          <p:spPr>
            <a:xfrm>
              <a:off x="7791881" y="273464"/>
              <a:ext cx="864014" cy="864014"/>
            </a:xfrm>
            <a:prstGeom prst="ellipse">
              <a:avLst/>
            </a:prstGeom>
            <a:noFill/>
            <a:ln w="25400">
              <a:solidFill>
                <a:srgbClr val="B99D3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rgbClr r="0" g="0" b="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</a:pPr>
              <a:endParaRPr lang="en-AU" sz="1200" dirty="0">
                <a:solidFill>
                  <a:schemeClr val="tx2"/>
                </a:solidFill>
              </a:endParaRPr>
            </a:p>
          </p:txBody>
        </p:sp>
      </p:grpSp>
      <p:sp>
        <p:nvSpPr>
          <p:cNvPr id="46" name="PageNumber"/>
          <p:cNvSpPr txBox="1"/>
          <p:nvPr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AU" sz="9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2DD4FA-96F0-ABBE-FA92-47C3CC495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507" y="1914525"/>
            <a:ext cx="3187700" cy="1866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A3F575D-082C-6F04-ABD8-DE60CE1EB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4518807"/>
            <a:ext cx="2777655" cy="104334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AEE70F7-25C1-910A-65BB-92F5FA1550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571" y="4425513"/>
            <a:ext cx="2543306" cy="166245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4FF8C37-B6AD-AFB8-2EE4-D8A31392192E}"/>
              </a:ext>
            </a:extLst>
          </p:cNvPr>
          <p:cNvSpPr txBox="1"/>
          <p:nvPr/>
        </p:nvSpPr>
        <p:spPr>
          <a:xfrm>
            <a:off x="795528" y="1128809"/>
            <a:ext cx="8850026" cy="2797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rPr>
              <a:t>Leading producer and marketer of beer and spirits in Singapore and Malaysia with growing operations in the region</a:t>
            </a:r>
            <a:endParaRPr lang="en-US" sz="1200" b="0" i="0" dirty="0">
              <a:solidFill>
                <a:schemeClr val="tx2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1884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auction process and key workstreams</a:t>
            </a:r>
          </a:p>
        </p:txBody>
      </p:sp>
      <p:sp>
        <p:nvSpPr>
          <p:cNvPr id="9" name="PageNumber"/>
          <p:cNvSpPr txBox="1"/>
          <p:nvPr/>
        </p:nvSpPr>
        <p:spPr>
          <a:xfrm>
            <a:off x="5233101" y="6895540"/>
            <a:ext cx="222437" cy="17794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876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5979968"/>
              </p:ext>
            </p:extLst>
          </p:nvPr>
        </p:nvGraphicFramePr>
        <p:xfrm>
          <a:off x="913379" y="1745511"/>
          <a:ext cx="8861879" cy="4615532"/>
        </p:xfrm>
        <a:graphic>
          <a:graphicData uri="http://schemas.openxmlformats.org/drawingml/2006/table">
            <a:tbl>
              <a:tblPr firstRow="1" lastRow="1" bandRow="1">
                <a:tableStyleId>{640930CC-2DD5-4645-9BF9-1F0F6B9BBA25}</a:tableStyleId>
              </a:tblPr>
              <a:tblGrid>
                <a:gridCol w="1032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9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9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949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9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1" i="0" u="none" strike="noStrike" cap="none" baseline="0" dirty="0">
                          <a:effectLst/>
                        </a:rPr>
                        <a:t>Date</a:t>
                      </a:r>
                      <a:endParaRPr lang="en-US" sz="9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1" i="0" u="none" strike="noStrike" cap="none" baseline="0">
                          <a:effectLst/>
                        </a:rPr>
                        <a:t>Event</a:t>
                      </a:r>
                      <a:endParaRPr lang="en-US" sz="900" b="1" i="0" u="none" strike="noStrike" cap="none" baseline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1" i="0" u="none" strike="noStrike" cap="none" baseline="0">
                          <a:effectLst/>
                        </a:rPr>
                        <a:t>Key workstreams</a:t>
                      </a:r>
                      <a:endParaRPr lang="en-US" sz="9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998">
                <a:tc rowSpan="3"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GB" sz="900" b="1" i="0" u="none" strike="noStrike" kern="1200" cap="none" baseline="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Round 1: Indicative Bid Phase </a:t>
                      </a:r>
                    </a:p>
                  </a:txBody>
                  <a:tcPr marL="44487" marR="88975" marT="17795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Mar 19, 2020</a:t>
                      </a:r>
                    </a:p>
                  </a:txBody>
                  <a:tcPr marL="44487" marR="88975" marT="17795" marB="0"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Commencement of Indicative Bid Phase</a:t>
                      </a:r>
                    </a:p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Release of Indicative Bid Documents</a:t>
                      </a:r>
                    </a:p>
                  </a:txBody>
                  <a:tcPr marL="44487" marR="88975" marT="17795" marB="0"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r>
                        <a:rPr lang="en-US" sz="900" b="1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Due Diligence</a:t>
                      </a:r>
                    </a:p>
                    <a:p>
                      <a:pPr marL="210312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Conduct initial due diligence based on the Indicative Bid Documents</a:t>
                      </a:r>
                    </a:p>
                    <a:p>
                      <a:pPr marL="210312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Maintain Q&amp;A log</a:t>
                      </a: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None/>
                      </a:pPr>
                      <a:r>
                        <a:rPr lang="en-US" sz="900" b="1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Valuation</a:t>
                      </a:r>
                    </a:p>
                    <a:p>
                      <a:pPr marL="210312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Conduct initial valuation based on the Indicative Bid Documents</a:t>
                      </a: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None/>
                      </a:pPr>
                      <a:r>
                        <a:rPr lang="en-US" sz="900" b="1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Structure and Financing </a:t>
                      </a:r>
                    </a:p>
                    <a:p>
                      <a:pPr marL="210312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Confirm buyer entity and any co-investor involvement</a:t>
                      </a:r>
                    </a:p>
                    <a:p>
                      <a:pPr marL="210312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Confirm preliminary financing approach</a:t>
                      </a: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None/>
                      </a:pPr>
                      <a:r>
                        <a:rPr lang="en-US" sz="900" b="1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Approvals</a:t>
                      </a:r>
                    </a:p>
                    <a:p>
                      <a:pPr marL="210312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Identify any internal or regulatory approvals required</a:t>
                      </a:r>
                    </a:p>
                  </a:txBody>
                  <a:tcPr marL="44487" marR="88975" marT="17795" marB="0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998">
                <a:tc vMerge="1"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T="18288" marB="0">
                    <a:lnT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From 9am Apr, 9 2020 to 5pm Apr 13, 2020 (HKT)</a:t>
                      </a: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Lodgment of Indicative Bid Questions</a:t>
                      </a: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998">
                <a:tc vMerge="1"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T="18288" marB="0">
                    <a:lnT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By 5pm May 13, 2020 (HKT)</a:t>
                      </a: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1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Indicative Bid deadline</a:t>
                      </a: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5227">
                <a:tc rowSpan="2"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GB" sz="900" b="1" i="0" u="none" strike="noStrike" kern="1200" cap="none" baseline="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Round 2: Final Bid Phase </a:t>
                      </a:r>
                    </a:p>
                  </a:txBody>
                  <a:tcPr marL="44487" marR="88975" marT="1779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Late May 2020</a:t>
                      </a:r>
                    </a:p>
                  </a:txBody>
                  <a:tcPr marL="44487" marR="88975" marT="17795" marB="0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Commencement of Final Bid Phase</a:t>
                      </a:r>
                    </a:p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Release of Process Letter Two</a:t>
                      </a:r>
                    </a:p>
                  </a:txBody>
                  <a:tcPr marL="44487" marR="88975" marT="17795" marB="0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Site Visits &amp; Management Presentation</a:t>
                      </a:r>
                    </a:p>
                    <a:p>
                      <a:pPr marL="210312" marR="0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tabLst/>
                        <a:defRPr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Arrange site visit and management presentation</a:t>
                      </a:r>
                    </a:p>
                    <a:p>
                      <a:pPr marL="210312" marR="0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tabLst/>
                        <a:defRPr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Prepare follow-up questions for management 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None/>
                        <a:tabLst/>
                        <a:defRPr/>
                      </a:pPr>
                      <a:r>
                        <a:rPr lang="en-US" sz="900" b="1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Due Diligence</a:t>
                      </a:r>
                    </a:p>
                    <a:p>
                      <a:pPr marL="210312" marR="0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tabLst/>
                        <a:defRPr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Continue to conduct due diligence using additional information provided in data room</a:t>
                      </a:r>
                    </a:p>
                    <a:p>
                      <a:pPr marL="210312" marR="0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tabLst/>
                        <a:defRPr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Update and maintain Q&amp;A log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None/>
                        <a:tabLst/>
                        <a:defRPr/>
                      </a:pPr>
                      <a:r>
                        <a:rPr lang="en-US" sz="900" b="1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Valuation </a:t>
                      </a:r>
                    </a:p>
                    <a:p>
                      <a:pPr marL="210312" marR="0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tabLst/>
                        <a:defRPr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Refine valuation analysis based on financial forecast provided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None/>
                        <a:tabLst/>
                        <a:defRPr/>
                      </a:pPr>
                      <a:r>
                        <a:rPr lang="en-US" sz="900" b="1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Financing</a:t>
                      </a:r>
                    </a:p>
                    <a:p>
                      <a:pPr marL="210312" marR="0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tabLst/>
                        <a:defRPr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Confirm financing sources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None/>
                        <a:tabLst/>
                        <a:defRPr/>
                      </a:pPr>
                      <a:r>
                        <a:rPr lang="en-US" sz="900" b="1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Approvals</a:t>
                      </a:r>
                    </a:p>
                    <a:p>
                      <a:pPr marL="210312" marR="0" lvl="1" indent="-210312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tabLst/>
                        <a:defRPr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Begin preparation of internal and regulatory approval materials </a:t>
                      </a:r>
                    </a:p>
                  </a:txBody>
                  <a:tcPr marL="44487" marR="88975" marT="17795" marB="0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9362">
                <a:tc vMerge="1"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T="18288" marB="0">
                    <a:lnT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Late Jul 2020</a:t>
                      </a:r>
                    </a:p>
                  </a:txBody>
                  <a:tcPr marL="44487" marR="88975" marT="17795" marB="0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1" i="0" u="none" strike="noStrike" cap="none" baseline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Final Bids due</a:t>
                      </a:r>
                    </a:p>
                  </a:txBody>
                  <a:tcPr marL="44487" marR="88975" marT="17795" marB="0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915666" y="1964858"/>
            <a:ext cx="971616" cy="1864544"/>
          </a:xfrm>
          <a:prstGeom prst="rect">
            <a:avLst/>
          </a:prstGeom>
          <a:noFill/>
          <a:ln w="9525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975" tIns="44487" rIns="88975" bIns="44487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US" sz="1168" dirty="0">
              <a:solidFill>
                <a:schemeClr val="tx2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5666" y="3925356"/>
            <a:ext cx="971616" cy="2276706"/>
          </a:xfrm>
          <a:prstGeom prst="rect">
            <a:avLst/>
          </a:prstGeom>
          <a:noFill/>
          <a:ln w="9525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975" tIns="44487" rIns="88975" bIns="44487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US" sz="1168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29799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HASH" val="oEPR7013YDACV1OW/yTvP98MGmsri81YEpjyvw3k9LM="/>
  <p:tag name="TEMPLATEVERSIONDATE" val="10/25/2019 15:18:15"/>
  <p:tag name="TEMPLATENAME" val="PitchPRO+"/>
  <p:tag name="PITCHPROSLIDECOUNT" val="2"/>
  <p:tag name="SLIDEMASTERBRANDLOGORIGHT" val="779.76"/>
  <p:tag name="SLIDEMASTERBRANDLOGOBOTTOM" val="559.44"/>
  <p:tag name="SLIDEMASTERBRANDLOGOHEIGHT" val="22.32"/>
  <p:tag name="SLIDEMASTERBRANDLOGOWIDTH" val="102.96"/>
  <p:tag name="ISROOTUNDO" val=""/>
  <p:tag name="SKIPCONVERSIONCHECK" val="true"/>
  <p:tag name="CONTENTLIBRARY" val="25232af7-736d-4928-93a7-3c7ce97efd42"/>
  <p:tag name="SIZEANDPOSITION" val="0d50b0f8-9899-4e4a-97a7-221586b77d6b"/>
  <p:tag name="REFRESHOPTIONS" val="&lt;?xml version=&quot;1.0&quot; encoding=&quot;utf-16&quot;?&gt;&#10;&lt;PowerpointRefreshOptions xmlns:xsi=&quot;http://www.w3.org/2001/XMLSchema-instance&quot; xmlns:xsd=&quot;http://www.w3.org/2001/XMLSchema&quot;&gt;&#10;  &lt;CoverPageAllElements&gt;true&lt;/CoverPageAllElements&gt;&#10;  &lt;CoverPageBrandLogo&gt;true&lt;/CoverPageBrandLogo&gt;&#10;  &lt;CoverPageClientLogo&gt;true&lt;/CoverPageClientLogo&gt;&#10;  &lt;CoverPageDate&gt;true&lt;/CoverPageDate&gt;&#10;  &lt;CoverPageJointPitchLogo&gt;true&lt;/CoverPageJointPitchLogo&gt;&#10;  &lt;CoverPageVerticalTextRunner&gt;true&lt;/CoverPageVerticalTextRunner&gt;&#10;  &lt;ShowCoverPage&gt;true&lt;/ShowCoverPage&gt;&#10;  &lt;ShowDisclaimer&gt;true&lt;/ShowDisclaimer&gt;&#10;  &lt;TemplateLayoutAllElements&gt;true&lt;/TemplateLayoutAllElements&gt;&#10;  &lt;ForceRefresh&gt;false&lt;/ForceRefresh&gt;&#10;  &lt;CoverPageSubTitle&gt;true&lt;/CoverPageSubTitle&gt;&#10;  &lt;CoverPageTitle&gt;true&lt;/CoverPageTitle&gt;&#10;  &lt;ShowAgenda&gt;true&lt;/ShowAgenda&gt;&#10;  &lt;TemplatePageLabel&gt;true&lt;/TemplatePageLabel&gt;&#10;  &lt;TemplateVerticalRunner&gt;true&lt;/TemplateVerticalRunner&gt;&#10;&lt;/PowerpointRefreshOptions&gt;"/>
  <p:tag name="ISUNDOENTRY" val=""/>
  <p:tag name="PITCHPROPROPERTIES" val="WXMfvE09DOs/mOl3u2AQ27QcgezyWkN+AkNAGXAeBoJKuBgxGBLGhI25m9bRHcM9RQscs7I4QY855HmZ9wiaScAkUiOahXjpa1GKbzxmDEgaRBFj1zbbNiHbJmtUv1DL609CXp4T5pMYpHCyOsiSfF8m1Ewd7e9Ul0r6wpaN5snm+kgLZOP8JKF1hv7kQD68zePpF4CHYvR4U9v1KCnkRXPe9cGBqoHIVzS4uiFBaX6FZuSb3bbgBcbiqr1rYEWwYF8jf8azIl5HPE/gAmNADkEljo1X/k0tHOSo3cRUt5y7ELLuubMobIvHRWXfymwJHSKP2795UlXiF04xtOvglG+JVAyzHw51eDyYadLvZRmxbcTRyg+tzofSEDUlmZcpAcL4kw507X7LqBdfoSXA93bvW2wjspIGGbmE2lYDoV5hFqURnw0EhLrzBVRqdqTEBg1eRVT1bJ+T63ON6+aYG1fS8ZKmHiIHFCNaYSMiFJhEfS7fgUgPVhrVWUxf2+OvOzbvJQZK8I29SHHm4H+/xCNITFEm/hamP7FeDF+j4MzTF/DY7pc/ID0CrwiQCeG6Q3ZbkYN9kw0o43kW6Qbdu+f5CAWHmEpq3so6opFXGHCIryG48dQJbTN7+RLxYoT92IlmY9cLnVg9l9DCwhF/f2iDZIf08IVowzJEguOyNt9w6Ia9jRIOwC5jUU9opnac8J4P9lPqTMZvLPgqpzFp84dej+azc4+PEbN+tlGIrwSvYVjJyvIKNT7lkvI9cvZPyJwhjEGnRaQqCxBo9SdeQvhyXb5m+K9N+NR7BWCqz/JSEV/Q37+6ZUPnBtT6cqJWkQ+nWpDks6rW7wvD0rcOL6xdN8Z6kmAynLmmv8V2poX2PesDqyBmP2TVfG4iwcBasTM3qqePhXPilyhL29VswD7M7zM/XYHLk58FQFlnI7+5m2UdTo/6UsqFC4i0x5rYtj60pko41HWMakxlfJUPX7MV3lbNZYZgDEXAnQyNO65Yc0tol0600ZJp6OXj/ggW1JeZ6cznfwrlpQBo4UwVxTWi5oHZEk/ImHbvuNYKGJCxNLw4+kR1zwQoZ0q83yPKwijhVyqbNtuyGAaTk/lDotoEJFCwGsMpMKEWpN4tAchKBEMsK/N3bzTos7Gd3IDvHQrXo13Q6YoNoRIw2VT3BbTGmRmCMLXx/FzFvknKX8JRXJzmadUbvlm8ymH6FRyMxRW+snvbqrqp8tq3umEZcudJA59gl64VL74/rXzf/o0ns/uyDUErpJoRJWuOYS+WjBLYLwsVSYAuU1tHv7N4eczqZPJFbAyUDTgaE6e8SITb5uK+oKRnm743yS+KK83U5+D0tPdgwmVUmQMLS8l9KBRNm/FP0zjXoGjzsItd+ioL8M6OrkJt1GUV8f3xzTQ0PIC1o+BZNIYxkzdxjP6SB6L3Se3by6Hi5y9p5iOpKvwF1NotQfi9sKRE8MSZ16P8Bmmtc0IqmEOTnz9eg/VYzzfJqMr6EIrlz3XRnPpzvNcc/4xnXDQmF0QL+8azIw3S3facSDcfrmnUdf2cKO63NcmZYWsNEjcvmjLx/fX/Lq13Uj3a9N9d/tB1ZiyhL+jczHAN+n+qI5aNNQmWHe4G+Czgq4MKsQ1ZJb/7ctXbcyqnJnsJyFHCYUsKYKaseAWiuLMJV2uTDMEqg7K52L1fdMFvZ5CNUe68vnq7cax0HmSlZcvdXLSnJVq5ErZyrKpE5opqm7Y7sJktZo3SqpeORyvG4A9BL4hZzkVg11kTrI0HvzQNx887fFHr+i1tOrEbrQ2cdGmrgdeaM9ahl7EVdvLN36+RXzMmhH1EfmfbRUrwnyClXO5k/E6puLBMwmQmrFixa6Q1ELmCeH5A9F/3PWAu9xLkjF0D/rrQpSZoTQX8wIhPrrmi1NrILRxVPRpGqoRfKpF+QzdeNK79eu3dy+KvC6NRW+/9Cz3gRY7nxGD75opy3EO1Ql5TSXM3PopmaboQwxT97Z5GZWMwC66kmnT9JXiYjMhwZWvqEzMrCiOCkfsXy4gX4zgzh/YVin6O70KgjxLrsHVdXxT88izm9qBqMuRfCqkN8BjCg8FeAQPw4KvgWeggCc+nLsSnMjGjEsDfPC5+Uy2bT2lUEwBq31GpV+6l0eN0MDcRWmf/qN5vcLG7zPszotglyDtlF2jiBNAkGdprcF0xbLPHyxx73J1VHQ72LXrOiYB9FoxoQOEqeGCOvS3aRduJAZJfOynCKyu4HQUrKz/qR8UIlxEETE3K7SAyZaIjn3ezYSD6JjdpyvaWsLBQLn/6y++m9pLXtfubhX3/YY6fhgsMDqixDhxVq0IU28b4cJB84gTrF+11NNZ9s1yvF8HGtc1C1KvbsQykdTSuN2X5YyyXbvXPBXBORRbJfjjST94sT5gNS81awCNBzwZ6k//PLgYNLLAEvZBXNkS9Y657vNyNb5rb0x7IeFzS5c6YOl1yDXBEiZ582Afxbcd/D0/slBquJ4phRomDISyvJty4hgzBG8qADMC0gwOKkQmLzXGCeCezhCOnc7Fr0xVQgAx4qBALHOYPrHPoxH075gNjBfboLP9Kk8eqAvfOk41c+abP+EWSI2CnzgVn/vw7UA/a5KszXyimESn811n0JuMk7HPYWfwwDVvhhQtNAi3KDQtkE7j68jXo/L06HzrzRYs7YzPSZUWSkG5kcbQfbdKTUNxaJzdDJsNikK8jrD6cPxrDFI7bpS+9DOhLPw3W0JZQV952FKIw4sUXLvSqw/dhNDW4jsOBqwQMJSG7wq7aZtT9kteEZCM/M+1YP+XdKSHBQJw4F6QT/jZO+WzUJlBz1/1gnjOeFwOmFT8ZI/aOQsQnPxe+ySqTKX96hMVllQnvdB9xWvYdATLTOvoPY3mxa+3MwpeKlVWKQtldgeV+8N2zW0mPbSbXjD4Uu3B/8FQA4NBScDoeRhmZFwY4qlzgRqlyGQHyl3zw3h+UDe8j/0pMOn/3Wuez6IeQ4gM69Ewg/ZGShUJArMBEP3qyfv0thq6YbRtVlNxDCoT7eSxuPU+WLW2akXgimBHpLsuY0A3ZIHOdLtXe4s2g/XsA0i2ndOsy73FnEVrtTgPbCRlZ1eETnNMtp6+pHSC8Dew3z99GuxQgZcK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ntern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TYPE" val="ClientNam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over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NumberingTyp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STRIBUTIONTYPE" val="External"/>
  <p:tag name="PITCHPROSLIDEID" val="256"/>
  <p:tag name="PRESENTATIONID" val="a91b9cc0-df25-4e77-a993-c673ccc9c2a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BJECTTITLESHAPEID" val="13"/>
  <p:tag name="THISSHAPESIZEANDPOSITIONDETAILS" val="top=149.04&amp;left=62.64&amp;height=154.8&amp;width=336.9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PageNo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STRIBUTIONTYPE" val="External"/>
  <p:tag name="PITCHPROSLIDEID" val="256"/>
  <p:tag name="PRESENTATIONID" val="f6697a79-f97a-4327-b638-8b63a488487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SSHAPESIZEANDPOSITIONDETAILS" val="top=165.6&amp;left=37.44&amp;height=572.46&amp;width=717.12"/>
</p:tagLst>
</file>

<file path=ppt/theme/theme1.xml><?xml version="1.0" encoding="utf-8"?>
<a:theme xmlns:a="http://schemas.openxmlformats.org/drawingml/2006/main" name="PP+ UnifiedGIB - A4">
  <a:themeElements>
    <a:clrScheme name="PitchPRO+">
      <a:dk1>
        <a:srgbClr val="000000"/>
      </a:dk1>
      <a:lt1>
        <a:srgbClr val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478FBF"/>
      </a:hlink>
      <a:folHlink>
        <a:srgbClr val="A6B640"/>
      </a:folHlink>
    </a:clrScheme>
    <a:fontScheme name="Pitchbook-US">
      <a:majorFont>
        <a:latin typeface="Arial"/>
        <a:ea typeface="LF_Kai"/>
        <a:cs typeface=""/>
      </a:majorFont>
      <a:minorFont>
        <a:latin typeface="Arial"/>
        <a:ea typeface="LF_Ka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2"/>
          </a:solidFill>
        </a:ln>
        <a:extLst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<a:prstTxWarp prst="textNoShape">
          <a:avLst/>
        </a:prstTxWarp>
        <a:noAutofit/>
      </a:bodyPr>
      <a:lstStyle>
        <a:defPPr>
          <a:lnSpc>
            <a:spcPct val="110000"/>
          </a:lnSpc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1440" tIns="45720" rIns="91440" bIns="45720" rtlCol="0" anchor="t">
        <a:spAutoFit/>
      </a:bodyPr>
      <a:lstStyle>
        <a:defPPr algn="l">
          <a:lnSpc>
            <a:spcPct val="110000"/>
          </a:lnSpc>
          <a:defRPr sz="1200" b="0" i="0" dirty="0" smtClean="0">
            <a:solidFill>
              <a:schemeClr val="tx2"/>
            </a:solidFill>
            <a:latin typeface="Arial"/>
          </a:defRPr>
        </a:defPPr>
      </a:lstStyle>
    </a:txDef>
  </a:objectDefaults>
  <a:extraClrSchemeLst>
    <a:extraClrScheme>
      <a:clrScheme name="PitchPRO+">
        <a:dk1>
          <a:srgbClr val="000000"/>
        </a:dk1>
        <a:lt1>
          <a:srgbClr val="FFFFFF"/>
        </a:lt1>
        <a:dk2>
          <a:srgbClr val="6D6E6A"/>
        </a:dk2>
        <a:lt2>
          <a:srgbClr val="478FBF"/>
        </a:lt2>
        <a:accent1>
          <a:srgbClr val="0069A3"/>
        </a:accent1>
        <a:accent2>
          <a:srgbClr val="818A37"/>
        </a:accent2>
        <a:accent3>
          <a:srgbClr val="7DBAC4"/>
        </a:accent3>
        <a:accent4>
          <a:srgbClr val="5A5397"/>
        </a:accent4>
        <a:accent5>
          <a:srgbClr val="7E776F"/>
        </a:accent5>
        <a:accent6>
          <a:srgbClr val="AD670D"/>
        </a:accent6>
        <a:hlink>
          <a:srgbClr val="478FBF"/>
        </a:hlink>
        <a:folHlink>
          <a:srgbClr val="A6B640"/>
        </a:folHlink>
      </a:clrScheme>
    </a:extraClrScheme>
  </a:extraClrSchemeLst>
  <a:custClrLst>
    <a:custClr name="Teal. RGB(0,124,136)">
      <a:srgbClr val="007C88"/>
    </a:custClr>
    <a:custClr name="Ocher. RGB(185,157,48)">
      <a:srgbClr val="B99D30"/>
    </a:custClr>
    <a:custClr name="Eggplant. RGB(41,39,94)">
      <a:srgbClr val="29275E"/>
    </a:custClr>
    <a:custClr name="Ice Blue. RGB(176,204,216)">
      <a:srgbClr val="B0CCD8"/>
    </a:custClr>
    <a:custClr name="Moss. RGB(75,94,54)">
      <a:srgbClr val="4B5E36"/>
    </a:custClr>
    <a:custClr name="Warm Grey. RGB(172, 166, 162)">
      <a:srgbClr val="ACA6A2"/>
    </a:custClr>
    <a:custClr name="Deep Blue. RGB(0,65,106)">
      <a:srgbClr val="00416A"/>
    </a:custClr>
    <a:custClr name="Sand. RGB(222,203,117)">
      <a:srgbClr val="DECB75"/>
    </a:custClr>
    <a:custClr name="Cranberry. RGB(96,0,59)">
      <a:srgbClr val="60003B"/>
    </a:custClr>
    <a:custClr name="Lilac. RGB(143,146,200)">
      <a:srgbClr val="8F92C8"/>
    </a:custClr>
    <a:custClr name="Light Warm Grey. RGB(217,213,205)">
      <a:srgbClr val="D9D5CD"/>
    </a:custClr>
    <a:custClr name="Light Mauve. RGB(204,183,207)">
      <a:srgbClr val="CCB7CF"/>
    </a:custClr>
    <a:custClr name="Light Cool Grey. RGB(175,177,179)">
      <a:srgbClr val="AFB1B3"/>
    </a:custClr>
    <a:custClr name="Dark Ash. RGB(85,87,89)">
      <a:srgbClr val="555759"/>
    </a:custClr>
    <a:custClr name="Dark Ocher. RGB(163,129,35)">
      <a:srgbClr val="A38123"/>
    </a:custClr>
    <a:custClr name="Mauve. RGB(163, 136, 191)">
      <a:srgbClr val="A388BF"/>
    </a:custClr>
    <a:custClr name="Dark Orange. RGB(139,70,13)">
      <a:srgbClr val="8B460D"/>
    </a:custClr>
    <a:custClr name="Orange. RGB(237,134,0)">
      <a:srgbClr val="ED8600"/>
    </a:custClr>
    <a:custClr name="Lime. RGB(166,182,64)">
      <a:srgbClr val="A6B640"/>
    </a:custClr>
    <a:custClr name="Map Grey. RGB(221,220,219)">
      <a:srgbClr val="DDDCDB"/>
    </a:custClr>
    <a:custClr name="Red. RGB(227,39,38)">
      <a:srgbClr val="E32726"/>
    </a:custClr>
    <a:custClr name="Yellow. RGB(255,207,1)">
      <a:srgbClr val="FFCF01"/>
    </a:custClr>
    <a:custClr name="Green. RGB(0,171,78)">
      <a:srgbClr val="00AB4E"/>
    </a:custClr>
    <a:custClr name="Asia Red. RGB(186,12,47)">
      <a:srgbClr val="BA0C2F"/>
    </a:custClr>
    <a:custClr name="Neutral Grey. RGB(233,231,229)">
      <a:srgbClr val="E9E7E5"/>
    </a:custClr>
    <a:custClr name="40% of Ice Blue. RGB(208, 224, 232)">
      <a:srgbClr val="D0E0E8"/>
    </a:custClr>
    <a:custClr name="40% Sand. RGB(235, 224, 172)">
      <a:srgbClr val="EBE0AC"/>
    </a:custClr>
    <a:custClr name="40% Lilac. RGB(188, 190, 222)">
      <a:srgbClr val="BCBEDE"/>
    </a:custClr>
    <a:custClr name="H- Glacier Blue. RGB(221,234,237)">
      <a:srgbClr val="DDEAED"/>
    </a:custClr>
  </a:custClrLst>
  <a:extLst>
    <a:ext uri="{05A4C25C-085E-4340-85A3-A5531E510DB2}">
      <thm15:themeFamily xmlns:thm15="http://schemas.microsoft.com/office/thememl/2012/main" name="56b5bb0d-2f61-4d54-8cbf-2c285620e792.potx" id="{F6E0622A-2784-44F4-99C7-15C7C0F5D709}" vid="{0ED3CDAB-2188-4B27-AEDC-194B090485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Template_UnifiedGIB_A4</Template>
  <TotalTime>1464</TotalTime>
  <Words>328</Words>
  <Application>Microsoft Macintosh PowerPoint</Application>
  <PresentationFormat>Custom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Arial Narrow</vt:lpstr>
      <vt:lpstr>Times New Roman</vt:lpstr>
      <vt:lpstr>Wingdings</vt:lpstr>
      <vt:lpstr>PP+ UnifiedGIB - A4</vt:lpstr>
      <vt:lpstr>HappyHour Co. Company Profile</vt:lpstr>
      <vt:lpstr>Overview of auction process and key workstreams</vt:lpstr>
    </vt:vector>
  </TitlesOfParts>
  <Company>JPMorgan Chase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HappyHour Co</dc:title>
  <dc:creator>Pasupathy, Gan (CIB IBC, AUS)</dc:creator>
  <cp:lastModifiedBy>Richardson, Matthew J</cp:lastModifiedBy>
  <cp:revision>21</cp:revision>
  <dcterms:created xsi:type="dcterms:W3CDTF">2020-04-17T12:29:06Z</dcterms:created>
  <dcterms:modified xsi:type="dcterms:W3CDTF">2026-05-18T03:42:12Z</dcterms:modified>
</cp:coreProperties>
</file>