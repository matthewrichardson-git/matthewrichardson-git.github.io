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sldIdLst>
    <p:sldId id="576" r:id="rId2"/>
  </p:sldIdLst>
  <p:sldSz cx="10688638" cy="7562850"/>
  <p:notesSz cx="6805613" cy="99441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41" autoAdjust="0"/>
    <p:restoredTop sz="95616" autoAdjust="0"/>
  </p:normalViewPr>
  <p:slideViewPr>
    <p:cSldViewPr snapToGrid="0" snapToObjects="1">
      <p:cViewPr varScale="1">
        <p:scale>
          <a:sx n="110" d="100"/>
          <a:sy n="110" d="100"/>
        </p:scale>
        <p:origin x="864" y="184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5/17/26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Provide an investment recommendation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45835" y="1130275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Email to management</a:t>
            </a:r>
          </a:p>
        </p:txBody>
      </p:sp>
      <p:sp>
        <p:nvSpPr>
          <p:cNvPr id="12" name="Subtitle 12"/>
          <p:cNvSpPr txBox="1">
            <a:spLocks/>
          </p:cNvSpPr>
          <p:nvPr/>
        </p:nvSpPr>
        <p:spPr>
          <a:xfrm>
            <a:off x="795528" y="4722412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Net present value based on perpetuity growth method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601198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700" dirty="0">
                <a:solidFill>
                  <a:schemeClr val="tx2"/>
                </a:solidFill>
              </a:rPr>
              <a:t>Source: </a:t>
            </a:r>
            <a:r>
              <a:rPr lang="en-GB" sz="700" dirty="0">
                <a:solidFill>
                  <a:srgbClr val="6D6E6A"/>
                </a:solidFill>
              </a:rPr>
              <a:t>Company Business Plan (January 2020); </a:t>
            </a:r>
            <a:r>
              <a:rPr lang="en-GB" sz="700" dirty="0">
                <a:solidFill>
                  <a:schemeClr val="tx2"/>
                </a:solidFill>
              </a:rPr>
              <a:t>Equity research; J.P. Morgan analysis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744241" y="5039957"/>
            <a:ext cx="4372824" cy="147084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Preliminary valuation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5508313" y="5039957"/>
            <a:ext cx="4377599" cy="1470843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2"/>
                </a:solidFill>
              </a:rPr>
              <a:t>Revised valuation (post-fire)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 Placeholder 2"/>
          <p:cNvSpPr txBox="1">
            <a:spLocks/>
          </p:cNvSpPr>
          <p:nvPr/>
        </p:nvSpPr>
        <p:spPr>
          <a:xfrm>
            <a:off x="795528" y="1591056"/>
            <a:ext cx="9107424" cy="2964759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>
            <a:lvl1pPr marL="12192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Tx/>
              <a:buNone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210312" indent="-210312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2pPr>
            <a:lvl3pPr marL="420624" indent="-210312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3pPr>
            <a:lvl4pPr marL="649224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4pPr>
            <a:lvl5pPr marL="87782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26308"/>
              </p:ext>
            </p:extLst>
          </p:nvPr>
        </p:nvGraphicFramePr>
        <p:xfrm>
          <a:off x="795528" y="5289345"/>
          <a:ext cx="4279392" cy="1121664"/>
        </p:xfrm>
        <a:graphic>
          <a:graphicData uri="http://schemas.openxmlformats.org/drawingml/2006/table">
            <a:tbl>
              <a:tblPr firstRow="1" lastRow="1">
                <a:tableStyleId>{640930CC-2DD5-4645-9BF9-1F0F6B9BBA25}</a:tableStyleId>
              </a:tblPr>
              <a:tblGrid>
                <a:gridCol w="2297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16">
                <a:tc>
                  <a:txBody>
                    <a:bodyPr/>
                    <a:lstStyle/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GB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Value Based on 8.5% WACC &amp; 0.5% TGR</a:t>
                      </a:r>
                      <a:endParaRPr lang="en-GB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Amount ($m)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of NPV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Present Value of Cash flows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409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50.9%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PV of Terminal Value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394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49.1%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Firm NPV 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803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100.0%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Net debt as of Mar-20E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(85)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equity value 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718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offer share price (c)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361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1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premium to current</a:t>
                      </a:r>
                      <a:endParaRPr lang="en-US" sz="800" b="0" i="1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118.8%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4EE04C-0848-DA84-132F-AE09524E5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994209"/>
              </p:ext>
            </p:extLst>
          </p:nvPr>
        </p:nvGraphicFramePr>
        <p:xfrm>
          <a:off x="5571575" y="5254620"/>
          <a:ext cx="4281684" cy="1221735"/>
        </p:xfrm>
        <a:graphic>
          <a:graphicData uri="http://schemas.openxmlformats.org/drawingml/2006/table">
            <a:tbl>
              <a:tblPr/>
              <a:tblGrid>
                <a:gridCol w="1103310">
                  <a:extLst>
                    <a:ext uri="{9D8B030D-6E8A-4147-A177-3AD203B41FA5}">
                      <a16:colId xmlns:a16="http://schemas.microsoft.com/office/drawing/2014/main" val="1804109871"/>
                    </a:ext>
                  </a:extLst>
                </a:gridCol>
                <a:gridCol w="654810">
                  <a:extLst>
                    <a:ext uri="{9D8B030D-6E8A-4147-A177-3AD203B41FA5}">
                      <a16:colId xmlns:a16="http://schemas.microsoft.com/office/drawing/2014/main" val="4008765076"/>
                    </a:ext>
                  </a:extLst>
                </a:gridCol>
                <a:gridCol w="825242">
                  <a:extLst>
                    <a:ext uri="{9D8B030D-6E8A-4147-A177-3AD203B41FA5}">
                      <a16:colId xmlns:a16="http://schemas.microsoft.com/office/drawing/2014/main" val="1150852696"/>
                    </a:ext>
                  </a:extLst>
                </a:gridCol>
                <a:gridCol w="1040522">
                  <a:extLst>
                    <a:ext uri="{9D8B030D-6E8A-4147-A177-3AD203B41FA5}">
                      <a16:colId xmlns:a16="http://schemas.microsoft.com/office/drawing/2014/main" val="3736196003"/>
                    </a:ext>
                  </a:extLst>
                </a:gridCol>
                <a:gridCol w="657800">
                  <a:extLst>
                    <a:ext uri="{9D8B030D-6E8A-4147-A177-3AD203B41FA5}">
                      <a16:colId xmlns:a16="http://schemas.microsoft.com/office/drawing/2014/main" val="1292083674"/>
                    </a:ext>
                  </a:extLst>
                </a:gridCol>
              </a:tblGrid>
              <a:tr h="140089">
                <a:tc grid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Value Based on 8.5% WACC &amp; 0.5% TGR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Amount ($m)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% of NPV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87079"/>
                  </a:ext>
                </a:extLst>
              </a:tr>
              <a:tr h="140089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Present Value of Cashflows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345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46.7%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653375"/>
                  </a:ext>
                </a:extLst>
              </a:tr>
              <a:tr h="140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PV of Terminal 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394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53.3%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380903"/>
                  </a:ext>
                </a:extLst>
              </a:tr>
              <a:tr h="140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Implied Firm NPV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738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100.0%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234013"/>
                  </a:ext>
                </a:extLst>
              </a:tr>
              <a:tr h="140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Net debt &amp; adjustments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(85)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8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547807"/>
                  </a:ext>
                </a:extLst>
              </a:tr>
              <a:tr h="1549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Implied equity 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654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523949"/>
                  </a:ext>
                </a:extLst>
              </a:tr>
              <a:tr h="140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Implied share price ($c)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329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361274"/>
                  </a:ext>
                </a:extLst>
              </a:tr>
              <a:tr h="1400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% premium to current</a:t>
                      </a:r>
                    </a:p>
                  </a:txBody>
                  <a:tcPr marL="85725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99.1%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00" b="1" i="0" u="none" strike="noStrike" dirty="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5764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C3FECC3-3A2E-D5DF-AD6D-69842A78A62B}"/>
              </a:ext>
            </a:extLst>
          </p:cNvPr>
          <p:cNvSpPr txBox="1"/>
          <p:nvPr/>
        </p:nvSpPr>
        <p:spPr>
          <a:xfrm>
            <a:off x="583813" y="1344846"/>
            <a:ext cx="9975524" cy="36244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050" b="0" i="0" dirty="0"/>
              <a:t>Dear Management Team, </a:t>
            </a:r>
          </a:p>
          <a:p>
            <a:pPr algn="l">
              <a:lnSpc>
                <a:spcPct val="110000"/>
              </a:lnSpc>
            </a:pPr>
            <a:endParaRPr lang="en-US" sz="1050" b="1" i="0" dirty="0"/>
          </a:p>
          <a:p>
            <a:pPr>
              <a:lnSpc>
                <a:spcPct val="110000"/>
              </a:lnSpc>
            </a:pPr>
            <a:r>
              <a:rPr lang="en-US" sz="1050" b="1" dirty="0"/>
              <a:t>Financial Impact of Supply Chain Interruption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The supply chain interruption has had minimal financial impact given its limited effect on financial projections beyond FY21; we do not view this as sufficient reason to significantly lower our bid or as an indication of future financial distress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Given the long term nature of this investment and the intangible synergy value, we do not consider the fire to be a material issue</a:t>
            </a:r>
          </a:p>
          <a:p>
            <a:pPr lvl="1">
              <a:lnSpc>
                <a:spcPct val="110000"/>
              </a:lnSpc>
            </a:pPr>
            <a:endParaRPr lang="en-US" sz="1050" dirty="0"/>
          </a:p>
          <a:p>
            <a:pPr>
              <a:lnSpc>
                <a:spcPct val="110000"/>
              </a:lnSpc>
            </a:pPr>
            <a:r>
              <a:rPr lang="en-US" sz="1050" b="1" dirty="0"/>
              <a:t>Bidding Dynamics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We view the NY/HK Times reporting on bidding interest in </a:t>
            </a:r>
            <a:r>
              <a:rPr lang="en-US" sz="1050" dirty="0" err="1"/>
              <a:t>HappyHour</a:t>
            </a:r>
            <a:r>
              <a:rPr lang="en-US" sz="1050" dirty="0"/>
              <a:t> Co. as credible; several large strategic firms are actively seeking expansion opportunities, and we expect a highly competitive bidding environment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 err="1"/>
              <a:t>WorldWide</a:t>
            </a:r>
            <a:r>
              <a:rPr lang="en-US" sz="1050" dirty="0"/>
              <a:t> Brewing expects higher synergy value than competing bidders, creating an opportunity to pay a higher price.</a:t>
            </a:r>
          </a:p>
          <a:p>
            <a:pPr lvl="1">
              <a:lnSpc>
                <a:spcPct val="110000"/>
              </a:lnSpc>
            </a:pPr>
            <a:endParaRPr lang="en-US" sz="1050" dirty="0"/>
          </a:p>
          <a:p>
            <a:pPr>
              <a:lnSpc>
                <a:spcPct val="110000"/>
              </a:lnSpc>
            </a:pPr>
            <a:r>
              <a:rPr lang="en-US" sz="1050" b="1" dirty="0"/>
              <a:t>Valuation Adjustments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FY21 revenue of $1,100mm (down ~4-5%)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50% gross margin</a:t>
            </a:r>
          </a:p>
          <a:p>
            <a:pPr marL="628650" lvl="1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Management expects to revert to originally forecasted sales in FY22 and thereafter</a:t>
            </a:r>
          </a:p>
          <a:p>
            <a:pPr lvl="1">
              <a:lnSpc>
                <a:spcPct val="110000"/>
              </a:lnSpc>
            </a:pPr>
            <a:endParaRPr lang="en-US" sz="1050" b="0" i="0" dirty="0"/>
          </a:p>
          <a:p>
            <a:r>
              <a:rPr lang="en-US" sz="1050" dirty="0"/>
              <a:t>The above has resulted in a revised NPV of $738mm (from $803mm), an implied equity value of $654mm (from $718mm), and an implied offer share price of 329 cents (from 361 cents)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b="0" i="0" dirty="0">
              <a:solidFill>
                <a:schemeClr val="tx2"/>
              </a:solidFill>
              <a:latin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6244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ISUNDOENTRY" val=""/>
  <p:tag name="PITCHPROSLIDECOUNT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6"/>
  <p:tag name="PRESENTATIONID" val="79c24579-ffe3-47dc-b441-3922fa244239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16105</TotalTime>
  <Words>374</Words>
  <Application>Microsoft Macintosh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LF_Kai</vt:lpstr>
      <vt:lpstr>Symbol</vt:lpstr>
      <vt:lpstr>Wingdings</vt:lpstr>
      <vt:lpstr>PP+ UnifiedGIB - A4</vt:lpstr>
      <vt:lpstr>Provide an investment recommendation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Richardson, Matthew J</cp:lastModifiedBy>
  <cp:revision>879</cp:revision>
  <cp:lastPrinted>2020-01-28T09:55:08Z</cp:lastPrinted>
  <dcterms:created xsi:type="dcterms:W3CDTF">2015-06-19T14:55:37Z</dcterms:created>
  <dcterms:modified xsi:type="dcterms:W3CDTF">2026-05-18T03:40:23Z</dcterms:modified>
</cp:coreProperties>
</file>